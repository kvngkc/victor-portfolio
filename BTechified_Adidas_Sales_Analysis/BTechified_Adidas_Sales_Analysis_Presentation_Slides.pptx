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0" r:id="rId6"/>
    <p:sldId id="259" r:id="rId7"/>
    <p:sldId id="258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900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14\Desktop\BTech.%20DA3;%20Project%20Group1%20Dashboar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14\Desktop\Beginner_capstone_dataset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14\Desktop\Beginner_capstone_dataset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14\Desktop\BTech.%20DA3;%20Project%20Group1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14\Desktop\Beginner_capstone_dataset%20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[BTech. DA3; Project Group1 Dashboard.xlsx]Sheet1!PivotTable1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Product Category by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3402207963836216"/>
          <c:y val="0.12294215181604563"/>
          <c:w val="0.76532862094213583"/>
          <c:h val="0.69119152743495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6"/>
                <c:pt idx="0">
                  <c:v>Men's Apparel</c:v>
                </c:pt>
                <c:pt idx="1">
                  <c:v>Men's Athletic Footwear</c:v>
                </c:pt>
                <c:pt idx="2">
                  <c:v>Men's Street Footwear</c:v>
                </c:pt>
                <c:pt idx="3">
                  <c:v>Women's Apparel</c:v>
                </c:pt>
                <c:pt idx="4">
                  <c:v>Women's Athletic Footwear</c:v>
                </c:pt>
                <c:pt idx="5">
                  <c:v>Women's Street Footwear</c:v>
                </c:pt>
              </c:strCache>
            </c:strRef>
          </c:cat>
          <c:val>
            <c:numRef>
              <c:f>Sheet1!$B$2:$B$8</c:f>
              <c:numCache>
                <c:formatCode>"$"#,##0_);[Red]\("$"#,##0\)</c:formatCode>
                <c:ptCount val="6"/>
                <c:pt idx="0">
                  <c:v>123728632</c:v>
                </c:pt>
                <c:pt idx="1">
                  <c:v>153673680</c:v>
                </c:pt>
                <c:pt idx="2">
                  <c:v>208826244</c:v>
                </c:pt>
                <c:pt idx="3">
                  <c:v>179038860</c:v>
                </c:pt>
                <c:pt idx="4">
                  <c:v>106631896</c:v>
                </c:pt>
                <c:pt idx="5">
                  <c:v>128002813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4D-4DC4-A946-981FBC2846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22115279"/>
        <c:axId val="1122101359"/>
      </c:barChart>
      <c:catAx>
        <c:axId val="112211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101359"/>
        <c:crosses val="autoZero"/>
        <c:auto val="1"/>
        <c:lblAlgn val="ctr"/>
        <c:lblOffset val="100"/>
        <c:noMultiLvlLbl val="0"/>
      </c:catAx>
      <c:valAx>
        <c:axId val="11221013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2115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 2.xlsx]Sheet1!PivotTable9</c:name>
    <c:fmtId val="6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Sales</a:t>
            </a:r>
            <a:r>
              <a:rPr lang="en-US" sz="2400" b="1" baseline="0" dirty="0"/>
              <a:t> Channel performance</a:t>
            </a:r>
            <a:endParaRPr lang="en-US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Sheet1!$S$1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3E-4B35-BE4A-FFF25052880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3E-4B35-BE4A-FFF25052880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3E-4B35-BE4A-FFF250528800}"/>
              </c:ext>
            </c:extLst>
          </c:dPt>
          <c:dLbls>
            <c:spPr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Sheet1!$R$2:$R$5</c:f>
              <c:strCache>
                <c:ptCount val="3"/>
                <c:pt idx="0">
                  <c:v>In-store</c:v>
                </c:pt>
                <c:pt idx="1">
                  <c:v>Online</c:v>
                </c:pt>
                <c:pt idx="2">
                  <c:v>Outlet</c:v>
                </c:pt>
              </c:strCache>
            </c:strRef>
          </c:cat>
          <c:val>
            <c:numRef>
              <c:f>Sheet1!$S$2:$S$5</c:f>
              <c:numCache>
                <c:formatCode>0.00%</c:formatCode>
                <c:ptCount val="3"/>
                <c:pt idx="0">
                  <c:v>0.39631393247348984</c:v>
                </c:pt>
                <c:pt idx="1">
                  <c:v>0.27522202150594988</c:v>
                </c:pt>
                <c:pt idx="2">
                  <c:v>0.32846404602056029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3E-4B35-BE4A-FFF25052880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182874015748027"/>
          <c:y val="0.35040427238261884"/>
          <c:w val="0.20150459317585304"/>
          <c:h val="0.364006270049577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dirty="0">
                <a:solidFill>
                  <a:sysClr val="windowText" lastClr="000000"/>
                </a:solidFill>
              </a:rPr>
              <a:t>Sales</a:t>
            </a:r>
            <a:r>
              <a:rPr lang="en-US" sz="1800" b="1" baseline="0" dirty="0">
                <a:solidFill>
                  <a:sysClr val="windowText" lastClr="000000"/>
                </a:solidFill>
              </a:rPr>
              <a:t> Performance by Stores Location</a:t>
            </a:r>
            <a:endParaRPr lang="en-US" sz="1800" b="1" dirty="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447951888896772"/>
          <c:y val="0.1304455047059723"/>
          <c:w val="0.82349845908901032"/>
          <c:h val="0.7575089150406741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Sheet1!$I$17</c:f>
              <c:strCache>
                <c:ptCount val="1"/>
                <c:pt idx="0">
                  <c:v>Midwest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Sheet1!$H$18:$H$23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Sheet1!$I$18:$I$23</c:f>
              <c:numCache>
                <c:formatCode>"$"#,##0_);[Red]\("$"#,##0\)</c:formatCode>
                <c:ptCount val="6"/>
                <c:pt idx="0">
                  <c:v>16835873</c:v>
                </c:pt>
                <c:pt idx="1">
                  <c:v>47987394</c:v>
                </c:pt>
                <c:pt idx="2">
                  <c:v>22229415</c:v>
                </c:pt>
                <c:pt idx="3">
                  <c:v>26207191</c:v>
                </c:pt>
                <c:pt idx="4">
                  <c:v>13712005</c:v>
                </c:pt>
                <c:pt idx="5">
                  <c:v>22540586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B-4463-ADCE-42B87D61DDF5}"/>
            </c:ext>
          </c:extLst>
        </c:ser>
        <c:ser>
          <c:idx val="1"/>
          <c:order val="1"/>
          <c:tx>
            <c:strRef>
              <c:f>Sheet1!$J$17</c:f>
              <c:strCache>
                <c:ptCount val="1"/>
                <c:pt idx="0">
                  <c:v>Northeast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Sheet1!$H$18:$H$23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Sheet1!$J$18:$J$23</c:f>
              <c:numCache>
                <c:formatCode>"$"#,##0_);[Red]\("$"#,##0\)</c:formatCode>
                <c:ptCount val="6"/>
                <c:pt idx="0">
                  <c:v>36262590</c:v>
                </c:pt>
                <c:pt idx="1">
                  <c:v>65326474</c:v>
                </c:pt>
                <c:pt idx="2">
                  <c:v>14031168</c:v>
                </c:pt>
                <c:pt idx="3">
                  <c:v>24698097</c:v>
                </c:pt>
                <c:pt idx="4">
                  <c:v>33049858</c:v>
                </c:pt>
                <c:pt idx="5">
                  <c:v>32293733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7B-4463-ADCE-42B87D61DDF5}"/>
            </c:ext>
          </c:extLst>
        </c:ser>
        <c:ser>
          <c:idx val="2"/>
          <c:order val="2"/>
          <c:tx>
            <c:strRef>
              <c:f>Sheet1!$K$17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Sheet1!$H$18:$H$23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Sheet1!$K$18:$K$23</c:f>
              <c:numCache>
                <c:formatCode>"$"#,##0_);[Red]\("$"#,##0\)</c:formatCode>
                <c:ptCount val="6"/>
                <c:pt idx="0">
                  <c:v>409091</c:v>
                </c:pt>
                <c:pt idx="1">
                  <c:v>9307025</c:v>
                </c:pt>
                <c:pt idx="2">
                  <c:v>3552055</c:v>
                </c:pt>
                <c:pt idx="3">
                  <c:v>65258121</c:v>
                </c:pt>
                <c:pt idx="4">
                  <c:v>21005539</c:v>
                </c:pt>
                <c:pt idx="5">
                  <c:v>33087031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7B-4463-ADCE-42B87D61DDF5}"/>
            </c:ext>
          </c:extLst>
        </c:ser>
        <c:ser>
          <c:idx val="3"/>
          <c:order val="3"/>
          <c:tx>
            <c:strRef>
              <c:f>Sheet1!$L$17</c:f>
              <c:strCache>
                <c:ptCount val="1"/>
                <c:pt idx="0">
                  <c:v>Southeast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Sheet1!$H$18:$H$23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Sheet1!$L$18:$L$23</c:f>
              <c:numCache>
                <c:formatCode>"$"#,##0_);[Red]\("$"#,##0\)</c:formatCode>
                <c:ptCount val="6"/>
                <c:pt idx="0">
                  <c:v>10826333</c:v>
                </c:pt>
                <c:pt idx="1">
                  <c:v>59669118</c:v>
                </c:pt>
                <c:pt idx="2">
                  <c:v>62302115</c:v>
                </c:pt>
                <c:pt idx="3">
                  <c:v>54178543</c:v>
                </c:pt>
                <c:pt idx="4">
                  <c:v>6791008</c:v>
                </c:pt>
                <c:pt idx="5">
                  <c:v>17491703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7B-4463-ADCE-42B87D61DDF5}"/>
            </c:ext>
          </c:extLst>
        </c:ser>
        <c:ser>
          <c:idx val="4"/>
          <c:order val="4"/>
          <c:tx>
            <c:strRef>
              <c:f>Sheet1!$M$17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Sheet1!$H$18:$H$23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Sheet1!$M$18:$M$23</c:f>
              <c:numCache>
                <c:formatCode>"$"#,##0_);[Red]\("$"#,##0\)</c:formatCode>
                <c:ptCount val="6"/>
                <c:pt idx="0">
                  <c:v>13365025</c:v>
                </c:pt>
                <c:pt idx="1">
                  <c:v>37804709</c:v>
                </c:pt>
                <c:pt idx="3">
                  <c:v>12129045</c:v>
                </c:pt>
                <c:pt idx="5">
                  <c:v>137551280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7B-4463-ADCE-42B87D61DD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15272399"/>
        <c:axId val="615255119"/>
      </c:barChart>
      <c:catAx>
        <c:axId val="61527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5255119"/>
        <c:crosses val="autoZero"/>
        <c:auto val="1"/>
        <c:lblAlgn val="ctr"/>
        <c:lblOffset val="100"/>
        <c:noMultiLvlLbl val="0"/>
      </c:catAx>
      <c:valAx>
        <c:axId val="6152551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5272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[BTech. DA3; Project Group1 Dashboard.xlsx]Sheet1!PivotTable3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Annual</a:t>
            </a:r>
            <a:r>
              <a:rPr lang="en-US" sz="1600" b="1" baseline="0" dirty="0">
                <a:solidFill>
                  <a:schemeClr val="tx1"/>
                </a:solidFill>
              </a:rPr>
              <a:t> Sales Trend</a:t>
            </a:r>
            <a:endParaRPr lang="en-US" sz="1600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284792663529115"/>
          <c:y val="0.15128227581235351"/>
          <c:w val="0.82536264502759626"/>
          <c:h val="0.7808360982538235"/>
        </c:manualLayout>
      </c:layout>
      <c:lineChart>
        <c:grouping val="standard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Sheet1!$H$2:$H$14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Sheet1!$I$2:$I$14</c:f>
              <c:numCache>
                <c:formatCode>"$"#,##0_);[Red]\("$"#,##0\)</c:formatCode>
                <c:ptCount val="12"/>
                <c:pt idx="0">
                  <c:v>253091750</c:v>
                </c:pt>
                <c:pt idx="1">
                  <c:v>213315750</c:v>
                </c:pt>
                <c:pt idx="2">
                  <c:v>109672250</c:v>
                </c:pt>
                <c:pt idx="3">
                  <c:v>112923854</c:v>
                </c:pt>
                <c:pt idx="4">
                  <c:v>32866911</c:v>
                </c:pt>
                <c:pt idx="5">
                  <c:v>21421296</c:v>
                </c:pt>
                <c:pt idx="6">
                  <c:v>49253183</c:v>
                </c:pt>
                <c:pt idx="7">
                  <c:v>25861439</c:v>
                </c:pt>
                <c:pt idx="8">
                  <c:v>23269262</c:v>
                </c:pt>
                <c:pt idx="9">
                  <c:v>13490273</c:v>
                </c:pt>
                <c:pt idx="10">
                  <c:v>24484081</c:v>
                </c:pt>
                <c:pt idx="11">
                  <c:v>20252076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E2-409F-AF8D-25A893EF17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29366192"/>
        <c:axId val="1429371472"/>
      </c:lineChart>
      <c:catAx>
        <c:axId val="1429366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9371472"/>
        <c:crosses val="autoZero"/>
        <c:auto val="1"/>
        <c:lblAlgn val="ctr"/>
        <c:lblOffset val="100"/>
        <c:noMultiLvlLbl val="0"/>
      </c:catAx>
      <c:valAx>
        <c:axId val="1429371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93661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[Beginner_capstone_dataset 2.xlsx]Sheet1!PivotTable7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solidFill>
                  <a:schemeClr val="tx1"/>
                </a:solidFill>
              </a:rPr>
              <a:t>Retailers Sales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7694294237316721"/>
          <c:y val="0.14294228785604135"/>
          <c:w val="0.72342648199677007"/>
          <c:h val="0.753477741352369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Sheet1!$P$1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Sheet1!$O$2:$O$8</c:f>
              <c:strCache>
                <c:ptCount val="6"/>
                <c:pt idx="0">
                  <c:v>Amazon</c:v>
                </c:pt>
                <c:pt idx="1">
                  <c:v>Foot Locker</c:v>
                </c:pt>
                <c:pt idx="2">
                  <c:v>Kohl's</c:v>
                </c:pt>
                <c:pt idx="3">
                  <c:v>Sports Direct</c:v>
                </c:pt>
                <c:pt idx="4">
                  <c:v>Walmart</c:v>
                </c:pt>
                <c:pt idx="5">
                  <c:v>West Gear</c:v>
                </c:pt>
              </c:strCache>
            </c:strRef>
          </c:cat>
          <c:val>
            <c:numRef>
              <c:f>Sheet1!$P$2:$P$8</c:f>
              <c:numCache>
                <c:formatCode>"$"#,##0_);[Red]\("$"#,##0\)</c:formatCode>
                <c:ptCount val="6"/>
                <c:pt idx="0">
                  <c:v>77698912</c:v>
                </c:pt>
                <c:pt idx="1">
                  <c:v>220094720</c:v>
                </c:pt>
                <c:pt idx="2">
                  <c:v>102114753</c:v>
                </c:pt>
                <c:pt idx="3">
                  <c:v>182470997</c:v>
                </c:pt>
                <c:pt idx="4">
                  <c:v>74558410</c:v>
                </c:pt>
                <c:pt idx="5">
                  <c:v>242964333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EC-417F-B0F9-0F61034441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69188528"/>
        <c:axId val="1369195728"/>
      </c:barChart>
      <c:catAx>
        <c:axId val="1369188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9195728"/>
        <c:crosses val="autoZero"/>
        <c:auto val="1"/>
        <c:lblAlgn val="ctr"/>
        <c:lblOffset val="100"/>
        <c:noMultiLvlLbl val="0"/>
      </c:catAx>
      <c:valAx>
        <c:axId val="13691957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9188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tx2">
        <a:lumMod val="10000"/>
        <a:lumOff val="90000"/>
      </a:schemeClr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5658-3205-C08C-E1F2-8404D71A4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5360C-E1C0-D072-C864-D98C2726C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53A50-8F59-918E-6FE2-24294987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1D690-F219-B52F-BEE7-61B68A5F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877C5-9058-2121-8684-677532D5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01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5D53-6B9C-18E0-D3E9-7B97823D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77D45-9830-3770-FDF5-DFC467285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67270-F016-BDD2-7D46-C4CF739D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AAA1F-6BAB-316A-3535-392236DD3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13A7D-B3DF-B685-7523-C9E17BFF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77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BE8C-28BF-CA33-2282-F6615C4C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A0F3D-A41F-1C6C-71FD-623CDE6E8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511A6-F9E0-4025-BEA2-C71FAB4B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25D74-E985-14E7-88E9-2A28F0DC7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326F5-77CA-4E20-21CE-10FB0D1D5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89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0235-9921-F452-0962-5C63A8D0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8B2E1-D56A-080E-564C-39334CF65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D428F-E073-0E45-506B-A24C29E64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C8949-8F54-579D-A077-5E3A3882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5A69C-F2FE-3CDC-2B61-37073A6B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FB06A-4770-6FCA-376D-B1BD7CD6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2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967E-B13B-DA86-67A6-87BB4981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1C8CF-77DA-5DB8-F293-467D1B8CE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707F4-1612-C4F7-5A6A-B16F6F073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3BC84-7FAB-EDE2-7B88-FB8DC4D458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403BC-F10B-B43D-D26E-4AD0E2BFD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E027DA-0D2E-FBEF-CCF3-F6ACF7585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83F5A1-B9D0-9562-BD1B-9BEAD4C7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CB6F2-EE9E-D173-2B4E-727262CB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2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A2DA4-3358-8809-B1E9-D6478C542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900C6-04AF-5503-CD92-44165890D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F6440-83B2-A8C5-F2A2-622C0BC1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A9FFF-1235-92BE-503D-057FF520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7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8CBC16-C9B7-7436-E507-24C360D8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6099E6-ECA7-5202-9490-5CB99C7CC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111E9-FB4B-33B0-7794-1419B680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65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9E66-78D6-ACD1-5C9A-3B5B41CE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4E2AB-934A-4E09-4F1E-8A27B59C5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CBC72-173C-A155-818A-7FF862A1B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D2373-DF68-CE43-E4DB-C6EFD6A33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E5E57-76BF-5B9E-A8BA-507CCB42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992D5-DD60-CCC3-4997-63DC1AEF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5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5EE44-D338-714B-ED31-41B4E0D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35944A-9DEA-39AE-370F-A95A09AB7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4FA7-B885-824D-CC4E-1362B7FDB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C7E76-968E-8849-AB54-0E2F0DED5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AFE47-4313-C3C2-6300-D098BD4F8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DB073-73D5-F6B6-CC13-512D2519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7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7AC0-3DFE-ECBA-17F4-EA1FB71F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8F5FDF-A50D-ADD6-4BD8-50F763E16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626B7-00A5-953E-24F4-8593A8EA0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A39C0-6785-A6C5-6756-DFC4A4DA1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E3CB7-8586-22C0-6C94-91261F6B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3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AAF871-F588-63E4-4298-2DE27277C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9AF3D-2603-A8D8-BAD0-B8E466808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24F1D-F44A-80AB-040B-24AA8993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51422-3C34-E491-E417-AE04C1D8C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8DECC-62CA-30B0-D61A-635E4DF4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14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EC6F61-6BD1-C829-6F61-C0E83965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A2EF2-745A-479C-319B-9AD92ACF1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E6D34-2D97-24D9-349E-1D4961255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2A1A1-6386-4C77-B5BC-EB14F54DFDD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62513-725A-EAC6-CAD1-E51792FD7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4A543-58E3-0186-A6BE-3F33A2BA5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4A5A7-6769-4916-A6F7-D168D9D62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9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1C148-8488-3D69-1A91-D8B0C117C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9318"/>
            <a:ext cx="9144000" cy="1909763"/>
          </a:xfrm>
        </p:spPr>
        <p:txBody>
          <a:bodyPr/>
          <a:lstStyle/>
          <a:p>
            <a:r>
              <a:rPr lang="en-US" dirty="0"/>
              <a:t>Adidas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4E370-0383-AE1F-EAEA-5B458C384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95642"/>
          </a:xfrm>
        </p:spPr>
        <p:txBody>
          <a:bodyPr>
            <a:normAutofit/>
          </a:bodyPr>
          <a:lstStyle/>
          <a:p>
            <a:r>
              <a:rPr lang="en-US" sz="3200" dirty="0"/>
              <a:t>Data Story and Strategic Recommendations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091CAAD-383C-343F-C02C-8F57ACD28595}"/>
              </a:ext>
            </a:extLst>
          </p:cNvPr>
          <p:cNvSpPr txBox="1">
            <a:spLocks/>
          </p:cNvSpPr>
          <p:nvPr/>
        </p:nvSpPr>
        <p:spPr>
          <a:xfrm>
            <a:off x="861060" y="5598636"/>
            <a:ext cx="3848100" cy="5278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/>
              <a:t>By:  Project Group 1</a:t>
            </a:r>
          </a:p>
        </p:txBody>
      </p:sp>
    </p:spTree>
    <p:extLst>
      <p:ext uri="{BB962C8B-B14F-4D97-AF65-F5344CB8AC3E}">
        <p14:creationId xmlns:p14="http://schemas.microsoft.com/office/powerpoint/2010/main" val="2755232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CD38B-A8A2-3E50-C98B-2AD5F8B7E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– The Big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8B47E-2472-B938-C877-056AF061E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4965383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Total Revenue:</a:t>
            </a:r>
            <a:r>
              <a:rPr lang="en-US" sz="2400" dirty="0"/>
              <a:t> $899.9M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dataset reveals:</a:t>
            </a:r>
          </a:p>
          <a:p>
            <a:r>
              <a:rPr lang="en-US" sz="2400" dirty="0"/>
              <a:t>Strong revenue concentration in specific product categories</a:t>
            </a:r>
          </a:p>
          <a:p>
            <a:r>
              <a:rPr lang="en-US" sz="2400" dirty="0"/>
              <a:t>Heavy reliance on in-store sales</a:t>
            </a:r>
          </a:p>
          <a:p>
            <a:r>
              <a:rPr lang="en-US" sz="2400" dirty="0"/>
              <a:t>Significant regional disparities</a:t>
            </a:r>
          </a:p>
          <a:p>
            <a:r>
              <a:rPr lang="en-US" sz="2400" dirty="0"/>
              <a:t>Extreme seasonal volatility</a:t>
            </a:r>
          </a:p>
          <a:p>
            <a:r>
              <a:rPr lang="en-US" sz="2400" dirty="0"/>
              <a:t>Revenue concentration among a few retail partners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analysis answers one core question:</a:t>
            </a:r>
          </a:p>
          <a:p>
            <a:pPr marL="0" indent="0">
              <a:buNone/>
            </a:pPr>
            <a:r>
              <a:rPr lang="en-US" sz="2400" b="1" dirty="0"/>
              <a:t>Where is Adidas winning, and where is performance leaking?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5999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DD19-F01A-1EB5-BE77-907606B06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5952"/>
          </a:xfrm>
        </p:spPr>
        <p:txBody>
          <a:bodyPr>
            <a:normAutofit fontScale="90000"/>
          </a:bodyPr>
          <a:lstStyle/>
          <a:p>
            <a:r>
              <a:rPr lang="en-US" dirty="0"/>
              <a:t>Product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E16F3-84C5-AF7E-D34D-6D3111B1B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1505585"/>
            <a:ext cx="59055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Footwear dominates revenue generation, particularly men’s street footwear.</a:t>
            </a:r>
            <a:br>
              <a:rPr lang="en-US" dirty="0"/>
            </a:br>
            <a:r>
              <a:rPr lang="en-US" dirty="0"/>
              <a:t>Women’s athletic footwear underperforms relative to other segments.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This Means</a:t>
            </a:r>
          </a:p>
          <a:p>
            <a:pPr marL="0" indent="0">
              <a:buNone/>
            </a:pPr>
            <a:r>
              <a:rPr lang="en-US" dirty="0"/>
              <a:t>Revenue is driven by lifestyle and street positioning, not purely performance athletics.</a:t>
            </a:r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77551D4-457F-42E1-850A-A760F2496F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4550423"/>
              </p:ext>
            </p:extLst>
          </p:nvPr>
        </p:nvGraphicFramePr>
        <p:xfrm>
          <a:off x="6332220" y="767238"/>
          <a:ext cx="5612130" cy="5323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524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B5525-668C-DCDA-364B-70146C465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225"/>
          </a:xfrm>
        </p:spPr>
        <p:txBody>
          <a:bodyPr>
            <a:normAutofit fontScale="90000"/>
          </a:bodyPr>
          <a:lstStyle/>
          <a:p>
            <a:r>
              <a:rPr lang="en-US" dirty="0"/>
              <a:t>Channel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A2044-9A7C-89D0-FC9B-3A8ED4A0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5257800" cy="523954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Insight</a:t>
            </a:r>
          </a:p>
          <a:p>
            <a:pPr marL="0" indent="0">
              <a:buNone/>
            </a:pPr>
            <a:r>
              <a:rPr lang="en-US" dirty="0"/>
              <a:t>In-store is the dominant channel. Online contributes the least.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Interpretation</a:t>
            </a:r>
          </a:p>
          <a:p>
            <a:pPr marL="0" indent="0">
              <a:buNone/>
            </a:pPr>
            <a:r>
              <a:rPr lang="en-US" dirty="0"/>
              <a:t>Adidas remains retail-heavy.</a:t>
            </a:r>
            <a:br>
              <a:rPr lang="en-US" dirty="0"/>
            </a:br>
            <a:r>
              <a:rPr lang="en-US" dirty="0"/>
              <a:t>Digital channel growth is under-leveraged relative to market trends.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Risk</a:t>
            </a:r>
            <a:r>
              <a:rPr lang="en-US" dirty="0"/>
              <a:t>: Overdependence on physical locations.</a:t>
            </a:r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3926B30-3056-43C7-A17E-3791374A00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5501758"/>
              </p:ext>
            </p:extLst>
          </p:nvPr>
        </p:nvGraphicFramePr>
        <p:xfrm>
          <a:off x="6096000" y="895350"/>
          <a:ext cx="5467350" cy="5239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6342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FC44D-58D6-877E-0A95-69000D40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125"/>
          </a:xfrm>
        </p:spPr>
        <p:txBody>
          <a:bodyPr>
            <a:normAutofit fontScale="90000"/>
          </a:bodyPr>
          <a:lstStyle/>
          <a:p>
            <a:r>
              <a:rPr lang="en-US" dirty="0"/>
              <a:t>Regional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D24C0-FAEA-DCDF-7010-66E882879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1158875"/>
            <a:ext cx="4838700" cy="5257800"/>
          </a:xfrm>
        </p:spPr>
        <p:txBody>
          <a:bodyPr/>
          <a:lstStyle/>
          <a:p>
            <a:r>
              <a:rPr lang="en-US" b="1" dirty="0"/>
              <a:t>Insight</a:t>
            </a:r>
          </a:p>
          <a:p>
            <a:pPr marL="0" indent="0">
              <a:buNone/>
            </a:pPr>
            <a:r>
              <a:rPr lang="en-US" dirty="0"/>
              <a:t>The West region outperforms all others significantly.</a:t>
            </a:r>
            <a:br>
              <a:rPr lang="en-US" dirty="0"/>
            </a:br>
            <a:r>
              <a:rPr lang="en-US" dirty="0"/>
              <a:t>Midwest and South lag behind.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Interpretation</a:t>
            </a:r>
          </a:p>
          <a:p>
            <a:pPr marL="0" indent="0">
              <a:buNone/>
            </a:pPr>
            <a:r>
              <a:rPr lang="en-US" dirty="0"/>
              <a:t>Demand is geographically concentrated.</a:t>
            </a:r>
            <a:br>
              <a:rPr lang="en-US" dirty="0"/>
            </a:br>
            <a:r>
              <a:rPr lang="en-US" dirty="0"/>
              <a:t>Uniform national strategy may be inefficient.</a:t>
            </a:r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470CE9E-1145-4E7C-A8F4-9243C76C91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684955"/>
              </p:ext>
            </p:extLst>
          </p:nvPr>
        </p:nvGraphicFramePr>
        <p:xfrm>
          <a:off x="5410200" y="857250"/>
          <a:ext cx="6343650" cy="555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95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97F4-C391-6500-51DE-323C67D8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Seasonality and Demand Volatility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0A07F-BE5B-9FCA-3F0C-CA104772A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40" y="1221044"/>
            <a:ext cx="4973132" cy="501491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Monthly Pattern</a:t>
            </a:r>
          </a:p>
          <a:p>
            <a:pPr marL="0" indent="0">
              <a:buNone/>
            </a:pPr>
            <a:r>
              <a:rPr lang="en-US" dirty="0"/>
              <a:t>January peak: $253.1M</a:t>
            </a:r>
          </a:p>
          <a:p>
            <a:pPr marL="0" indent="0">
              <a:buNone/>
            </a:pPr>
            <a:r>
              <a:rPr lang="en-US" dirty="0"/>
              <a:t>October low: $13.5M</a:t>
            </a:r>
          </a:p>
          <a:p>
            <a:pPr marL="0" indent="0">
              <a:buNone/>
            </a:pPr>
            <a:r>
              <a:rPr lang="en-US" dirty="0"/>
              <a:t>94.7% decline from peak to lowest month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Insight</a:t>
            </a:r>
          </a:p>
          <a:p>
            <a:pPr marL="0" indent="0">
              <a:buNone/>
            </a:pPr>
            <a:r>
              <a:rPr lang="en-US" dirty="0"/>
              <a:t>Sales are extremely high in January and declines continually throughout the year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Implications</a:t>
            </a:r>
          </a:p>
          <a:p>
            <a:pPr marL="0" indent="0">
              <a:buNone/>
            </a:pPr>
            <a:r>
              <a:rPr lang="en-US" dirty="0"/>
              <a:t>Possible drivers:</a:t>
            </a:r>
          </a:p>
          <a:p>
            <a:pPr marL="0" indent="0">
              <a:buNone/>
            </a:pPr>
            <a:r>
              <a:rPr lang="en-US" dirty="0"/>
              <a:t>Post-holiday purchases</a:t>
            </a:r>
          </a:p>
          <a:p>
            <a:pPr marL="0" indent="0">
              <a:buNone/>
            </a:pPr>
            <a:r>
              <a:rPr lang="en-US" dirty="0"/>
              <a:t>Promotional clustering</a:t>
            </a:r>
          </a:p>
          <a:p>
            <a:pPr marL="0" indent="0">
              <a:buNone/>
            </a:pPr>
            <a:r>
              <a:rPr lang="en-US" dirty="0"/>
              <a:t>Fitness-related New Year demand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Risk: Revenue instability across the year.</a:t>
            </a:r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C062AC-3304-4152-9380-9404D8D487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9235580"/>
              </p:ext>
            </p:extLst>
          </p:nvPr>
        </p:nvGraphicFramePr>
        <p:xfrm>
          <a:off x="5560946" y="1221044"/>
          <a:ext cx="6411366" cy="4468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9771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2E31-E7ED-A1A5-9E40-912E957C7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</p:spPr>
        <p:txBody>
          <a:bodyPr>
            <a:normAutofit fontScale="90000"/>
          </a:bodyPr>
          <a:lstStyle/>
          <a:p>
            <a:r>
              <a:rPr lang="en-US" dirty="0"/>
              <a:t>Retailer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58CA0-E976-320D-07C0-345E31EF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4" y="1319893"/>
            <a:ext cx="5577115" cy="4351338"/>
          </a:xfrm>
        </p:spPr>
        <p:txBody>
          <a:bodyPr/>
          <a:lstStyle/>
          <a:p>
            <a:r>
              <a:rPr lang="en-US" b="1" dirty="0"/>
              <a:t>Insight</a:t>
            </a:r>
          </a:p>
          <a:p>
            <a:pPr marL="0" indent="0">
              <a:buNone/>
            </a:pPr>
            <a:r>
              <a:rPr lang="en-US" dirty="0"/>
              <a:t>Two retailers generate nearly half of total revenue.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Interpretation</a:t>
            </a:r>
          </a:p>
          <a:p>
            <a:pPr marL="0" indent="0">
              <a:buNone/>
            </a:pPr>
            <a:r>
              <a:rPr lang="en-US" dirty="0"/>
              <a:t>Revenue concentration risk.</a:t>
            </a:r>
            <a:br>
              <a:rPr lang="en-US" dirty="0"/>
            </a:br>
            <a:r>
              <a:rPr lang="en-US" dirty="0"/>
              <a:t>Uneven partner productivity.</a:t>
            </a:r>
          </a:p>
          <a:p>
            <a:endParaRPr lang="en-US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46ED5D7-5FF0-45A1-87F1-4D6793A8B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3575571"/>
              </p:ext>
            </p:extLst>
          </p:nvPr>
        </p:nvGraphicFramePr>
        <p:xfrm>
          <a:off x="5718629" y="1186769"/>
          <a:ext cx="6037942" cy="38932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51764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D3DA-8F20-C29B-465C-9F9C595DA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Core Business Patterns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09F6B-B550-63F5-7F14-5F82077C1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538029" cy="4351338"/>
          </a:xfrm>
        </p:spPr>
        <p:txBody>
          <a:bodyPr/>
          <a:lstStyle/>
          <a:p>
            <a:r>
              <a:rPr lang="en-US" dirty="0"/>
              <a:t>Revenue concentration in men’s street footwear</a:t>
            </a:r>
          </a:p>
          <a:p>
            <a:r>
              <a:rPr lang="en-US" dirty="0"/>
              <a:t>In-store channel dominance</a:t>
            </a:r>
          </a:p>
          <a:p>
            <a:r>
              <a:rPr lang="en-US" dirty="0"/>
              <a:t>Regional concentration in the West</a:t>
            </a:r>
          </a:p>
          <a:p>
            <a:r>
              <a:rPr lang="en-US" dirty="0"/>
              <a:t>Extreme seasonal volatility</a:t>
            </a:r>
          </a:p>
          <a:p>
            <a:r>
              <a:rPr lang="en-US" dirty="0"/>
              <a:t>Dependence on top two retail partners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system is strong, but uneven.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692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4AA89-F3C3-6B1F-402E-03590DAAC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50F57-AC0E-4AEF-08DB-55A017561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15" y="1404711"/>
            <a:ext cx="5558972" cy="5088164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/>
              <a:t>Product Strategy</a:t>
            </a:r>
          </a:p>
          <a:p>
            <a:pPr marL="0" indent="0">
              <a:buNone/>
            </a:pPr>
            <a:r>
              <a:rPr lang="en-US" sz="2000" dirty="0"/>
              <a:t>Expand high-performing footwear lines</a:t>
            </a:r>
          </a:p>
          <a:p>
            <a:pPr marL="0" indent="0">
              <a:buNone/>
            </a:pPr>
            <a:r>
              <a:rPr lang="en-US" sz="2000" dirty="0"/>
              <a:t>Reposition underperforming women’s athletic segment</a:t>
            </a:r>
          </a:p>
          <a:p>
            <a:pPr marL="0" indent="0">
              <a:buNone/>
            </a:pPr>
            <a:r>
              <a:rPr lang="en-US" sz="2000" dirty="0"/>
              <a:t>Increase cross-selling between footwear and apparel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Channel Strategy</a:t>
            </a:r>
          </a:p>
          <a:p>
            <a:pPr marL="0" indent="0">
              <a:buNone/>
            </a:pPr>
            <a:r>
              <a:rPr lang="en-US" sz="2000" dirty="0"/>
              <a:t>Strengthen online marketing and UX</a:t>
            </a:r>
          </a:p>
          <a:p>
            <a:pPr marL="0" indent="0">
              <a:buNone/>
            </a:pPr>
            <a:r>
              <a:rPr lang="en-US" sz="2000" dirty="0"/>
              <a:t>Reduce dependence on physical retail</a:t>
            </a:r>
          </a:p>
          <a:p>
            <a:pPr marL="0" indent="0">
              <a:buNone/>
            </a:pPr>
            <a:r>
              <a:rPr lang="en-US" sz="2000" dirty="0"/>
              <a:t>Introduce omnichannel integration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Regional Strategy</a:t>
            </a:r>
          </a:p>
          <a:p>
            <a:pPr marL="0" indent="0">
              <a:buNone/>
            </a:pPr>
            <a:r>
              <a:rPr lang="en-US" sz="2000" dirty="0"/>
              <a:t>Double down on West region expansion</a:t>
            </a:r>
          </a:p>
          <a:p>
            <a:pPr marL="0" indent="0">
              <a:buNone/>
            </a:pPr>
            <a:r>
              <a:rPr lang="en-US" sz="2000" dirty="0"/>
              <a:t>Diagnose Midwest and South underperformance</a:t>
            </a:r>
          </a:p>
          <a:p>
            <a:pPr marL="0" indent="0">
              <a:buNone/>
            </a:pPr>
            <a:r>
              <a:rPr lang="en-US" sz="2000" dirty="0"/>
              <a:t>Apply region-specific promotions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899F20-39C8-DA57-271C-DF4B9A5494DB}"/>
              </a:ext>
            </a:extLst>
          </p:cNvPr>
          <p:cNvSpPr txBox="1">
            <a:spLocks/>
          </p:cNvSpPr>
          <p:nvPr/>
        </p:nvSpPr>
        <p:spPr>
          <a:xfrm>
            <a:off x="6313713" y="1329021"/>
            <a:ext cx="5558972" cy="5239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b="1" dirty="0"/>
              <a:t>Demand Strategy</a:t>
            </a:r>
          </a:p>
          <a:p>
            <a:pPr marL="0" indent="0">
              <a:buNone/>
            </a:pPr>
            <a:r>
              <a:rPr lang="en-US" sz="1900" dirty="0"/>
              <a:t>Redistribute promotional efforts across quarters</a:t>
            </a:r>
          </a:p>
          <a:p>
            <a:pPr marL="0" indent="0">
              <a:buNone/>
            </a:pPr>
            <a:r>
              <a:rPr lang="en-US" sz="1900" dirty="0"/>
              <a:t>Implement time-series forecasting</a:t>
            </a:r>
          </a:p>
          <a:p>
            <a:pPr marL="0" indent="0">
              <a:buNone/>
            </a:pPr>
            <a:r>
              <a:rPr lang="en-US" sz="1900" dirty="0"/>
              <a:t>Smooth revenue volatility</a:t>
            </a:r>
          </a:p>
          <a:p>
            <a:pPr marL="0" indent="0">
              <a:buNone/>
            </a:pPr>
            <a:endParaRPr lang="en-US" sz="1900" dirty="0"/>
          </a:p>
          <a:p>
            <a:r>
              <a:rPr lang="en-US" sz="1900" b="1" dirty="0"/>
              <a:t>Retailer Strategy</a:t>
            </a:r>
          </a:p>
          <a:p>
            <a:pPr marL="0" indent="0">
              <a:buNone/>
            </a:pPr>
            <a:r>
              <a:rPr lang="en-US" sz="1900" dirty="0"/>
              <a:t>Replicate West Gear and Foot Locker best practices</a:t>
            </a:r>
          </a:p>
          <a:p>
            <a:pPr marL="0" indent="0">
              <a:buNone/>
            </a:pPr>
            <a:r>
              <a:rPr lang="en-US" sz="1900" dirty="0"/>
              <a:t>Introduce performance-based incentives</a:t>
            </a:r>
          </a:p>
          <a:p>
            <a:pPr marL="0" indent="0">
              <a:buNone/>
            </a:pPr>
            <a:r>
              <a:rPr lang="en-US" sz="1900" dirty="0"/>
              <a:t>Audit low-performing partners</a:t>
            </a:r>
          </a:p>
          <a:p>
            <a:endParaRPr lang="en-US" sz="19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3E707F-001A-63E1-87FF-7A5900EFAA84}"/>
              </a:ext>
            </a:extLst>
          </p:cNvPr>
          <p:cNvCxnSpPr>
            <a:cxnSpLocks/>
          </p:cNvCxnSpPr>
          <p:nvPr/>
        </p:nvCxnSpPr>
        <p:spPr>
          <a:xfrm>
            <a:off x="319315" y="3149600"/>
            <a:ext cx="11553370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598952-1676-0B6E-8CD6-63D171D33ACD}"/>
              </a:ext>
            </a:extLst>
          </p:cNvPr>
          <p:cNvCxnSpPr>
            <a:cxnSpLocks/>
          </p:cNvCxnSpPr>
          <p:nvPr/>
        </p:nvCxnSpPr>
        <p:spPr>
          <a:xfrm>
            <a:off x="217714" y="4920342"/>
            <a:ext cx="11654971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9F97B4-324A-002D-F7ED-9FB3614284CC}"/>
              </a:ext>
            </a:extLst>
          </p:cNvPr>
          <p:cNvCxnSpPr>
            <a:cxnSpLocks/>
          </p:cNvCxnSpPr>
          <p:nvPr/>
        </p:nvCxnSpPr>
        <p:spPr>
          <a:xfrm>
            <a:off x="5696858" y="1168400"/>
            <a:ext cx="0" cy="532447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411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5369-7491-B99B-0BE7-DD773603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56D0A-B7E8-6C44-EE08-09B8CB8F7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Adidas demonstrates strong category leadership and regional dominance in select areas.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However, growth is constrained by:</a:t>
            </a:r>
          </a:p>
          <a:p>
            <a:r>
              <a:rPr lang="en-US" dirty="0"/>
              <a:t>Channel imbalance</a:t>
            </a:r>
          </a:p>
          <a:p>
            <a:r>
              <a:rPr lang="en-US" dirty="0"/>
              <a:t>Regional disparities</a:t>
            </a:r>
          </a:p>
          <a:p>
            <a:r>
              <a:rPr lang="en-US" dirty="0"/>
              <a:t>Retail concentration</a:t>
            </a:r>
          </a:p>
          <a:p>
            <a:r>
              <a:rPr lang="en-US" dirty="0"/>
              <a:t>Seasonal instability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Optimizing these structural inefficiencies will improve revenue stability, operational efficiency, and long-term competitiveness.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606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434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Adidas Sales Performance Analysis</vt:lpstr>
      <vt:lpstr>Introduction – The Big Picture</vt:lpstr>
      <vt:lpstr>Product Performance</vt:lpstr>
      <vt:lpstr>Channel Performance</vt:lpstr>
      <vt:lpstr>Regional Distribution</vt:lpstr>
      <vt:lpstr>Seasonality and Demand Volatility</vt:lpstr>
      <vt:lpstr>Retailer Performance</vt:lpstr>
      <vt:lpstr>Core Business Patterns Identified</vt:lpstr>
      <vt:lpstr>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Adaora Ewuzie</dc:creator>
  <cp:lastModifiedBy>Adaora Ewuzie</cp:lastModifiedBy>
  <cp:revision>2</cp:revision>
  <dcterms:created xsi:type="dcterms:W3CDTF">2026-03-02T01:57:45Z</dcterms:created>
  <dcterms:modified xsi:type="dcterms:W3CDTF">2026-03-03T23:16:44Z</dcterms:modified>
</cp:coreProperties>
</file>